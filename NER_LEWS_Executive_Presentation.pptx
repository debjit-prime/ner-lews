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3840480" cy="5029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DISASTER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NER-LEWS</a:t>
            </a:r>
          </a:p>
          <a:p>
            <a:pPr>
              <a:defRPr sz="2000" b="1">
                <a:solidFill>
                  <a:srgbClr val="D8E3FB"/>
                </a:solidFill>
              </a:defRPr>
            </a:pPr>
            <a:r>
              <a:t>North Eastern Region Landslide Early Warning System</a:t>
            </a:r>
          </a:p>
          <a:p>
            <a:pPr>
              <a:defRPr sz="1200">
                <a:solidFill>
                  <a:srgbClr val="BCC7DE"/>
                </a:solidFill>
              </a:defRPr>
            </a:pPr>
            <a:r>
              <a:t>An AI &amp; Rule-Based Multi-Hazard Early Warning and Decision Support Platform for Northeast India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4389120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200" b="1">
                <a:solidFill>
                  <a:srgbClr val="EA580C"/>
                </a:solidFill>
              </a:defRPr>
            </a:pPr>
            <a:r>
              <a:t>PLATFORM OVERVIEW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Domain: Landslide Hazard Early Warning &amp; Zonation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Architecture: Web-GIS &amp; Rule-Based MCDA Engine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Coverage: 8 North Eastern States (NER India)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Key Corridors: NH-6, NH-54, NH-29, NH-10 Transit Lines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Live App: https://ner-lews.vercel.app/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REST API: https://ner-lews.onrender.com/</a:t>
            </a:r>
          </a:p>
        </p:txBody>
      </p:sp>
      <p:pic>
        <p:nvPicPr>
          <p:cNvPr id="6" name="Picture 5" descr="07_ai_avatar_assist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28016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9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EXECUTIVE SUMMARY: THE NER-LEWS PLATFORM</a:t>
            </a:r>
          </a:p>
          <a:p>
            <a:pPr>
              <a:defRPr sz="1100">
                <a:solidFill>
                  <a:srgbClr val="BCC7DE"/>
                </a:solidFill>
                <a:latin typeface="Arial"/>
              </a:defRPr>
            </a:pPr>
            <a:r>
              <a:t>Real-Time Slope Monitoring, Transparent Scoring &amp; Multilingual Alerts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55680" y="228600"/>
            <a:ext cx="548640" cy="5486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NER-LEWS  |  Disaster Risk Reduction Platform  |  Live App: https://ner-lews.vercel.app/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4864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300" b="1">
                <a:solidFill>
                  <a:srgbClr val="BA1A1A"/>
                </a:solidFill>
              </a:defRPr>
            </a:pPr>
            <a:r>
              <a:t>🚨 The Problem &amp; Solution Architecture</a:t>
            </a:r>
          </a:p>
          <a:p>
            <a:pPr>
              <a:defRPr sz="1000">
                <a:solidFill>
                  <a:srgbClr val="091426"/>
                </a:solidFill>
              </a:defRPr>
            </a:pPr>
            <a:r>
              <a:t>• Severe Monsoons: Heavy rainfall (&gt;2500mm/yr) causes slope destabilization across Eastern Himalayas.</a:t>
            </a:r>
          </a:p>
          <a:p>
            <a:pPr>
              <a:defRPr sz="1000">
                <a:solidFill>
                  <a:srgbClr val="091426"/>
                </a:solidFill>
              </a:defRPr>
            </a:pPr>
            <a:r>
              <a:t>• Highway Blockages: Essential transit lifelines (NH-6, NH-54) cut off entire state supplies for days.</a:t>
            </a:r>
          </a:p>
          <a:p>
            <a:pPr>
              <a:defRPr sz="1000">
                <a:solidFill>
                  <a:srgbClr val="091426"/>
                </a:solidFill>
              </a:defRPr>
            </a:pPr>
            <a:r>
              <a:t>• Transparent MCDA Scoring: Evaluates 5 physical parameters without unexplainable black-box ML.</a:t>
            </a:r>
          </a:p>
          <a:p>
            <a:pPr>
              <a:defRPr sz="1000">
                <a:solidFill>
                  <a:srgbClr val="091426"/>
                </a:solidFill>
              </a:defRPr>
            </a:pPr>
            <a:r>
              <a:t>• Interactive Web-GIS Map: Real-time telemetry monitoring for 10+ stations with radar hazard pins.</a:t>
            </a:r>
          </a:p>
          <a:p>
            <a:pPr>
              <a:defRPr sz="1000">
                <a:solidFill>
                  <a:srgbClr val="091426"/>
                </a:solidFill>
              </a:defRPr>
            </a:pPr>
            <a:r>
              <a:t>• Multilingual Voice Alerts: Native browser voice synthesis in English, Assamese, Hindi, and Bengali.</a:t>
            </a:r>
          </a:p>
          <a:p>
            <a:pPr>
              <a:defRPr sz="1000">
                <a:solidFill>
                  <a:srgbClr val="091426"/>
                </a:solidFill>
              </a:defRPr>
            </a:pPr>
            <a:r>
              <a:t>• Citizen Geotagged Reports: Crowdsourced GPS photo evidence with auto-sync to SDMA.</a:t>
            </a:r>
          </a:p>
        </p:txBody>
      </p:sp>
      <p:pic>
        <p:nvPicPr>
          <p:cNvPr id="7" name="Picture 6" descr="02_gis_risk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4937760" cy="39502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9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TECHNICAL ARCHITECTURE &amp; RISK FORMULA</a:t>
            </a:r>
          </a:p>
          <a:p>
            <a:pPr>
              <a:defRPr sz="1100">
                <a:solidFill>
                  <a:srgbClr val="BCC7DE"/>
                </a:solidFill>
                <a:latin typeface="Arial"/>
              </a:defRPr>
            </a:pPr>
            <a:r>
              <a:t>End-to-End Technology Stack, Multi-Criteria Algorithm &amp; Data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55680" y="228600"/>
            <a:ext cx="548640" cy="5486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NER-LEWS  |  Disaster Risk Reduction Platform  |  Live App: https://ner-lews.vercel.app/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3035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300" b="1">
                <a:solidFill>
                  <a:srgbClr val="EA580C"/>
                </a:solidFill>
              </a:defRPr>
            </a:pPr>
            <a:r>
              <a:t>📐 Geotechnical Risk Scoring Formula</a:t>
            </a:r>
          </a:p>
          <a:p>
            <a:pPr>
              <a:defRPr sz="950">
                <a:solidFill>
                  <a:srgbClr val="091426"/>
                </a:solidFill>
              </a:defRPr>
            </a:pPr>
            <a:r>
              <a:t>Step 1: Normalization to 0-10 Sub-Scores:</a:t>
            </a:r>
          </a:p>
          <a:p>
            <a:pPr>
              <a:defRPr sz="950">
                <a:solidFill>
                  <a:srgbClr val="091426"/>
                </a:solidFill>
              </a:defRPr>
            </a:pPr>
            <a:r>
              <a:t>  • 24h Rain: 0mm→0 | 50mm→3 | 100mm→6 | 150mm+→10</a:t>
            </a:r>
          </a:p>
          <a:p>
            <a:pPr>
              <a:defRPr sz="950">
                <a:solidFill>
                  <a:srgbClr val="091426"/>
                </a:solidFill>
              </a:defRPr>
            </a:pPr>
            <a:r>
              <a:t>  • Soil Moisture: 0% to 100% linear (0-10)</a:t>
            </a:r>
          </a:p>
          <a:p>
            <a:pPr>
              <a:defRPr sz="950">
                <a:solidFill>
                  <a:srgbClr val="091426"/>
                </a:solidFill>
              </a:defRPr>
            </a:pPr>
            <a:r>
              <a:t>  • Elevation: 0-500m→2 | 500-1500m→5 | 1500-2500m→8 | 2500m+→10</a:t>
            </a:r>
          </a:p>
          <a:p>
            <a:pPr>
              <a:defRPr sz="950">
                <a:solidFill>
                  <a:srgbClr val="091426"/>
                </a:solidFill>
              </a:defRPr>
            </a:pPr>
            <a:r>
              <a:t>  • Humidity: 0% to 100% linear (0-10)</a:t>
            </a:r>
          </a:p>
          <a:p>
            <a:pPr>
              <a:defRPr sz="950">
                <a:solidFill>
                  <a:srgbClr val="091426"/>
                </a:solidFill>
              </a:defRPr>
            </a:pPr>
            <a:r>
              <a:t>  • Temperature Modifier: &lt;15°C or &gt;30°C adds +0.5 penalty</a:t>
            </a:r>
          </a:p>
          <a:p>
            <a:pPr>
              <a:defRPr sz="950">
                <a:solidFill>
                  <a:srgbClr val="091426"/>
                </a:solidFill>
              </a:defRPr>
            </a:pPr>
          </a:p>
          <a:p>
            <a:pPr>
              <a:defRPr sz="950">
                <a:solidFill>
                  <a:srgbClr val="091426"/>
                </a:solidFill>
              </a:defRPr>
            </a:pPr>
            <a:r>
              <a:t>Step 2: Weighted Sum Calculation:</a:t>
            </a:r>
          </a:p>
          <a:p>
            <a:pPr>
              <a:defRPr sz="950">
                <a:solidFill>
                  <a:srgbClr val="091426"/>
                </a:solidFill>
              </a:defRPr>
            </a:pPr>
            <a:r>
              <a:t>  Final Score = (Precip × 0.35) + (Soil × 0.30) + (Elev × 0.20) + (Hum × 0.15) + TempMod</a:t>
            </a:r>
          </a:p>
          <a:p>
            <a:pPr>
              <a:defRPr sz="950">
                <a:solidFill>
                  <a:srgbClr val="091426"/>
                </a:solidFill>
              </a:defRPr>
            </a:pPr>
          </a:p>
          <a:p>
            <a:pPr>
              <a:defRPr sz="950">
                <a:solidFill>
                  <a:srgbClr val="091426"/>
                </a:solidFill>
              </a:defRPr>
            </a:pPr>
            <a:r>
              <a:t>Step 3: 4 Severity Risk Bands:</a:t>
            </a:r>
          </a:p>
          <a:p>
            <a:pPr>
              <a:defRPr sz="950">
                <a:solidFill>
                  <a:srgbClr val="091426"/>
                </a:solidFill>
              </a:defRPr>
            </a:pPr>
            <a:r>
              <a:t>  • 0.0 – 3.0: LOW RISK (Green) -&gt; Routine monitoring</a:t>
            </a:r>
          </a:p>
          <a:p>
            <a:pPr>
              <a:defRPr sz="950">
                <a:solidFill>
                  <a:srgbClr val="091426"/>
                </a:solidFill>
              </a:defRPr>
            </a:pPr>
            <a:r>
              <a:t>  • 3.1 – 6.0: MODERATE RISK (Yellow) -&gt; Field officer inspection</a:t>
            </a:r>
          </a:p>
          <a:p>
            <a:pPr>
              <a:defRPr sz="950">
                <a:solidFill>
                  <a:srgbClr val="091426"/>
                </a:solidFill>
              </a:defRPr>
            </a:pPr>
            <a:r>
              <a:t>  • 6.1 – 8.0: HIGH RISK (Orange) -&gt; Road advisory &amp; alerts</a:t>
            </a:r>
          </a:p>
          <a:p>
            <a:pPr>
              <a:defRPr sz="950">
                <a:solidFill>
                  <a:srgbClr val="091426"/>
                </a:solidFill>
              </a:defRPr>
            </a:pPr>
            <a:r>
              <a:t>  • 8.1 – 10.0: SEVERE RISK (Red) -&gt; Immediate evacuation advisory</a:t>
            </a:r>
          </a:p>
        </p:txBody>
      </p:sp>
      <p:pic>
        <p:nvPicPr>
          <p:cNvPr id="7" name="Picture 6" descr="03_risk_scoring_eng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80160"/>
            <a:ext cx="5120640" cy="40965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9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FEASIBILITY, CHALLENGES &amp; MITIGATION</a:t>
            </a:r>
          </a:p>
          <a:p>
            <a:pPr>
              <a:defRPr sz="1100">
                <a:solidFill>
                  <a:srgbClr val="BCC7DE"/>
                </a:solidFill>
                <a:latin typeface="Arial"/>
              </a:defRPr>
            </a:pPr>
            <a:r>
              <a:t>Operational Viability, Hill Terrain Obstacles and Engineering 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55680" y="228600"/>
            <a:ext cx="548640" cy="5486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NER-LEWS  |  Disaster Risk Reduction Platform  |  Live App: https://ner-lews.vercel.app/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4864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300" b="1">
                <a:solidFill>
                  <a:srgbClr val="22C55E"/>
                </a:solidFill>
              </a:defRPr>
            </a:pPr>
            <a:r>
              <a:t>📊 Feasibility Analysis &amp; Practical Solutions</a:t>
            </a:r>
          </a:p>
          <a:p>
            <a:pPr>
              <a:defRPr sz="1000">
                <a:solidFill>
                  <a:srgbClr val="091426"/>
                </a:solidFill>
              </a:defRPr>
            </a:pPr>
            <a:r>
              <a:t>• Technical Viability: 100% built and live in production; sub-second page loads on 3G/4G.</a:t>
            </a:r>
          </a:p>
          <a:p>
            <a:pPr>
              <a:defRPr sz="1000">
                <a:solidFill>
                  <a:srgbClr val="091426"/>
                </a:solidFill>
              </a:defRPr>
            </a:pPr>
            <a:r>
              <a:t>• Financial Feasibility: Eliminates proprietary GIS and TTS licensing fees; zero operational server cost on free tier.</a:t>
            </a:r>
          </a:p>
          <a:p>
            <a:pPr>
              <a:defRPr sz="1000">
                <a:solidFill>
                  <a:srgbClr val="091426"/>
                </a:solidFill>
              </a:defRPr>
            </a:pPr>
            <a:r>
              <a:t>• Hill Connectivity: Client-side offline evaluation engine and seed caching keep alerts functional without network.</a:t>
            </a:r>
          </a:p>
          <a:p>
            <a:pPr>
              <a:defRPr sz="1000">
                <a:solidFill>
                  <a:srgbClr val="091426"/>
                </a:solidFill>
              </a:defRPr>
            </a:pPr>
            <a:r>
              <a:t>• Regional Languages: Native browser voice synthesis in Assamese, Bengali, and Hindi with regional dialect mappings.</a:t>
            </a:r>
          </a:p>
          <a:p>
            <a:pPr>
              <a:defRPr sz="1000">
                <a:solidFill>
                  <a:srgbClr val="091426"/>
                </a:solidFill>
              </a:defRPr>
            </a:pPr>
            <a:r>
              <a:t>• Hardware Gaps: Citizen hazard crowdsourcing with geotagged photo proof bridges sparse sensor networks.</a:t>
            </a:r>
          </a:p>
        </p:txBody>
      </p:sp>
      <p:pic>
        <p:nvPicPr>
          <p:cNvPr id="7" name="Picture 6" descr="05_citizen_field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4937760" cy="95843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9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IMPACT, BENEFICIARIES &amp; AUDIO ADVISORIES</a:t>
            </a:r>
          </a:p>
          <a:p>
            <a:pPr>
              <a:defRPr sz="1100">
                <a:solidFill>
                  <a:srgbClr val="BCC7DE"/>
                </a:solidFill>
                <a:latin typeface="Arial"/>
              </a:defRPr>
            </a:pPr>
            <a:r>
              <a:t>Social, Economic, and Disaster Risk Reduction (DRR) Benefits for Northeast India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55680" y="228600"/>
            <a:ext cx="548640" cy="5486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NER-LEWS  |  Disaster Risk Reduction Platform  |  Live App: https://ner-lews.vercel.app/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4864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300" b="1">
                <a:solidFill>
                  <a:srgbClr val="BA1A1A"/>
                </a:solidFill>
              </a:defRPr>
            </a:pPr>
            <a:r>
              <a:t>👥 Public Safety &amp; Economic Preservation</a:t>
            </a:r>
          </a:p>
          <a:p>
            <a:pPr>
              <a:defRPr sz="1000">
                <a:solidFill>
                  <a:srgbClr val="091426"/>
                </a:solidFill>
              </a:defRPr>
            </a:pPr>
            <a:r>
              <a:t>• Early Evacuation Time: 6 to 24 hour prescriptive warning window before slope saturation triggers rupture.</a:t>
            </a:r>
          </a:p>
          <a:p>
            <a:pPr>
              <a:defRPr sz="1000">
                <a:solidFill>
                  <a:srgbClr val="091426"/>
                </a:solidFill>
              </a:defRPr>
            </a:pPr>
            <a:r>
              <a:t>• Universal Accessibility: Multilingual voice advisories ensure illiterate, elderly, and rural citizens receive alerts.</a:t>
            </a:r>
          </a:p>
          <a:p>
            <a:pPr>
              <a:defRPr sz="1000">
                <a:solidFill>
                  <a:srgbClr val="091426"/>
                </a:solidFill>
              </a:defRPr>
            </a:pPr>
            <a:r>
              <a:t>• Highway Transit Preservation: Prevents multi-day supply chain blockages along NH-6, NH-54, and NH-29.</a:t>
            </a:r>
          </a:p>
          <a:p>
            <a:pPr>
              <a:defRPr sz="1000">
                <a:solidFill>
                  <a:srgbClr val="091426"/>
                </a:solidFill>
              </a:defRPr>
            </a:pPr>
            <a:r>
              <a:t>• Targeted Resource Dispatch: Empowers SDRF &amp; District Magistrates with pinpointed hazard sector intelligence.</a:t>
            </a:r>
          </a:p>
          <a:p>
            <a:pPr>
              <a:defRPr sz="1000">
                <a:solidFill>
                  <a:srgbClr val="091426"/>
                </a:solidFill>
              </a:defRPr>
            </a:pPr>
            <a:r>
              <a:t>• Aligned with Sendai Framework: Directly supports global DRR Target G (Multi-hazard early warning systems).</a:t>
            </a:r>
          </a:p>
        </p:txBody>
      </p:sp>
      <p:pic>
        <p:nvPicPr>
          <p:cNvPr id="7" name="Picture 6" descr="04_multilingual_al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4937760" cy="145764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9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RESEARCH GROUNDING &amp; AUTHORITY DASHBOARD</a:t>
            </a:r>
          </a:p>
          <a:p>
            <a:pPr>
              <a:defRPr sz="1100">
                <a:solidFill>
                  <a:srgbClr val="BCC7DE"/>
                </a:solidFill>
                <a:latin typeface="Arial"/>
              </a:defRPr>
            </a:pPr>
            <a:r>
              <a:t>Geotechnical Basis, Authority Portal &amp; Live Production Deliverables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55680" y="228600"/>
            <a:ext cx="548640" cy="5486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NER-LEWS  |  Disaster Risk Reduction Platform  |  Live App: https://ner-lews.vercel.app/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4864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300" b="1">
                <a:solidFill>
                  <a:srgbClr val="091426"/>
                </a:solidFill>
              </a:defRPr>
            </a:pPr>
            <a:r>
              <a:t>📚 Scientific Grounding &amp; Live Links</a:t>
            </a:r>
          </a:p>
          <a:p>
            <a:pPr>
              <a:defRPr sz="1000">
                <a:solidFill>
                  <a:srgbClr val="091426"/>
                </a:solidFill>
              </a:defRPr>
            </a:pPr>
            <a:r>
              <a:t>• GSI Guidelines: National Landslide Susceptibility Mapping (NLSM) for Himalayan terrain.</a:t>
            </a:r>
          </a:p>
          <a:p>
            <a:pPr>
              <a:defRPr sz="1000">
                <a:solidFill>
                  <a:srgbClr val="091426"/>
                </a:solidFill>
              </a:defRPr>
            </a:pPr>
            <a:r>
              <a:t>• IMD Research: Rainfall intensity-duration thresholds for slope failure initiation in Meghalaya &amp; Mizoram.</a:t>
            </a:r>
          </a:p>
          <a:p>
            <a:pPr>
              <a:defRPr sz="1000">
                <a:solidFill>
                  <a:srgbClr val="091426"/>
                </a:solidFill>
              </a:defRPr>
            </a:pPr>
            <a:r>
              <a:t>• NESAC / ISRO: Early Warning Methodologies and rainfall zonation in East Khasi Hills.</a:t>
            </a:r>
          </a:p>
          <a:p>
            <a:pPr>
              <a:defRPr sz="1000">
                <a:solidFill>
                  <a:srgbClr val="091426"/>
                </a:solidFill>
              </a:defRPr>
            </a:pPr>
            <a:r>
              <a:t>• Web Application: https://ner-lews.vercel.app/ (Live on Vercel)</a:t>
            </a:r>
          </a:p>
          <a:p>
            <a:pPr>
              <a:defRPr sz="1000">
                <a:solidFill>
                  <a:srgbClr val="091426"/>
                </a:solidFill>
              </a:defRPr>
            </a:pPr>
            <a:r>
              <a:t>• REST API Server: https://ner-lews.onrender.com/ (Live on Render)</a:t>
            </a:r>
          </a:p>
          <a:p>
            <a:pPr>
              <a:defRPr sz="1000">
                <a:solidFill>
                  <a:srgbClr val="091426"/>
                </a:solidFill>
              </a:defRPr>
            </a:pPr>
            <a:r>
              <a:t>• Development: UI/UX structured with Stitch; full-stack engineered with Google Antigravity AI.</a:t>
            </a:r>
          </a:p>
        </p:txBody>
      </p:sp>
      <p:pic>
        <p:nvPicPr>
          <p:cNvPr id="7" name="Picture 6" descr="06_authority_por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4937760" cy="27774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